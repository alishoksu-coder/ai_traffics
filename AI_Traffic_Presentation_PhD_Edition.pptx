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Қайырлы күн, құрметті комиссия мүшелері. Назарларыңызға «Қалалық ортадағы көлік ағындарын бақылау мен болжауға арналған интеллектуалды жүйе» тақырыбындағы зерттеу жұмысын ұсынамын.</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Қазіргі таңда трафик мәселесі өте өзекті. Экранның оң жағында көріп тұрғандарыңыздай, Астананың кептеліс картасында қызыл аймақтар көп. Біз нарықтағы 2GIS және Сергек сияқты аналогтармен нақты параметрлер бойынша салыстыру жүргіздік: олар болжауды және аномалияларды дәл біздің жүйедей терең талдамайды.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Зерттеуіміздің басты мақсаты – жай ғана карта жасау емес, LSTM алгоритмі арқылы трафикті болжайтын толыққанды архитектура құру. Ол үшін біз 4 негізгі міндетті қойдық: Серверлік бөлікті құру, AI моделін оқыту, Мобильді қосымша жасау және Цифрлық Егіз жүйесін іске асыру.</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Бұл слайдта жүйенің ішкі логикасы көрсетілген. Сол жақта басты функциялар: LSTM нейрондық желісі арқылы болжау, EMA арқылы күрт өзгерістерді бақылау және аномалияларды анықтау алгоритмдері. Оң жақта осы модульдердің микросервистік архитектурада қалай байланысқаны көрсетілген.</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Эксперимент нәтижелерін түсіндіретін болсақ: Сол жақта модель қателіктерін есептейтін математикалық аппарат пен функциялар көрсетілген. MAE метрикасы трафиктің абсолютті ауытқуын көрсетсе, RMSE үлкен аномалияларды анықтайды. Оң жақтағы кестеде біздің LSTM моделіміздің классикалық алгоритмдерге қарағанда әлдеқайда дәл (87.4%) екені дәлелденген.</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Жобаның басты ғылыми жаңалығы – Цифрлық Егіз технологиясы. Біз трафикті жай бақылап қана қоймай, жасанды түрде перекрытие жасап, ағынның қалай таралатынын симуляциялай аламыз. Сондай-ақ мультимодалды талдау кептеліс кезінде баламалы транспорт түрлерін ұсынады.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Қорытындылай келе, әзірленген жүйе тек теориялық зерттеу емес, нақты практикалық маңызға ие. Ол қала экономикасына, экологиясына және әлеуметтік инклюзиясына оң әсер етеді. Назарларыңызға рақмет, сұрақтарыңызға жауап беруге дайынмын.</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8288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914400"/>
            <a:ext cx="10360152" cy="457200"/>
          </a:xfrm>
          <a:prstGeom prst="rect">
            <a:avLst/>
          </a:prstGeom>
          <a:noFill/>
        </p:spPr>
        <p:txBody>
          <a:bodyPr wrap="square">
            <a:spAutoFit/>
          </a:bodyPr>
          <a:lstStyle/>
          <a:p>
            <a:pPr algn="ctr">
              <a:defRPr sz="1600" b="1">
                <a:solidFill>
                  <a:srgbClr val="505A64"/>
                </a:solidFill>
              </a:defRPr>
            </a:pPr>
            <a:r>
              <a:t>ЕҰУ им. Л.Н. Гумилева | Факультет Информационных Технологий</a:t>
            </a:r>
          </a:p>
        </p:txBody>
      </p:sp>
      <p:sp>
        <p:nvSpPr>
          <p:cNvPr id="4" name="TextBox 3"/>
          <p:cNvSpPr txBox="1"/>
          <p:nvPr/>
        </p:nvSpPr>
        <p:spPr>
          <a:xfrm>
            <a:off x="914400" y="2286000"/>
            <a:ext cx="10360152" cy="1828800"/>
          </a:xfrm>
          <a:prstGeom prst="rect">
            <a:avLst/>
          </a:prstGeom>
          <a:noFill/>
        </p:spPr>
        <p:txBody>
          <a:bodyPr wrap="square">
            <a:spAutoFit/>
          </a:bodyPr>
          <a:lstStyle/>
          <a:p>
            <a:pPr algn="ctr">
              <a:defRPr sz="3600" b="1">
                <a:solidFill>
                  <a:srgbClr val="141E28"/>
                </a:solidFill>
              </a:defRPr>
            </a:pPr>
            <a:r>
              <a:t>Қалалық ортадағы көлік ағындарын бақылау мен болжауға арналған интеллектуалды жүйені архитектуралық жобалау және әзірлеу</a:t>
            </a:r>
          </a:p>
        </p:txBody>
      </p:sp>
      <p:sp>
        <p:nvSpPr>
          <p:cNvPr id="5" name="TextBox 4"/>
          <p:cNvSpPr txBox="1"/>
          <p:nvPr/>
        </p:nvSpPr>
        <p:spPr>
          <a:xfrm>
            <a:off x="914400" y="4114800"/>
            <a:ext cx="10360152" cy="457200"/>
          </a:xfrm>
          <a:prstGeom prst="rect">
            <a:avLst/>
          </a:prstGeom>
          <a:noFill/>
        </p:spPr>
        <p:txBody>
          <a:bodyPr wrap="square">
            <a:spAutoFit/>
          </a:bodyPr>
          <a:lstStyle/>
          <a:p>
            <a:pPr algn="ctr">
              <a:defRPr sz="1800" b="0">
                <a:solidFill>
                  <a:srgbClr val="0055A4"/>
                </a:solidFill>
              </a:defRPr>
            </a:pPr>
            <a:r>
              <a:t>Специальность: «Вычислительная техника и программное обеспечение»</a:t>
            </a:r>
          </a:p>
        </p:txBody>
      </p:sp>
      <p:sp>
        <p:nvSpPr>
          <p:cNvPr id="6" name="TextBox 5"/>
          <p:cNvSpPr txBox="1"/>
          <p:nvPr/>
        </p:nvSpPr>
        <p:spPr>
          <a:xfrm>
            <a:off x="914400" y="5029200"/>
            <a:ext cx="10360152" cy="914400"/>
          </a:xfrm>
          <a:prstGeom prst="rect">
            <a:avLst/>
          </a:prstGeom>
          <a:noFill/>
        </p:spPr>
        <p:txBody>
          <a:bodyPr wrap="square">
            <a:spAutoFit/>
          </a:bodyPr>
          <a:lstStyle/>
          <a:p>
            <a:pPr algn="ctr">
              <a:defRPr sz="1600" b="1">
                <a:solidFill>
                  <a:srgbClr val="141E28"/>
                </a:solidFill>
              </a:defRPr>
            </a:pPr>
            <a:r>
              <a:t>Выполнил: Сулейменов Алишер</a:t>
            </a:r>
            <a:br/>
            <a:r>
              <a:t>Научный руководитель: Кусаинова Айнур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731520"/>
            <a:ext cx="12188952" cy="4572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none">
            <a:spAutoFit/>
          </a:bodyPr>
          <a:lstStyle/>
          <a:p>
            <a:pPr>
              <a:defRPr b="1" sz="2800">
                <a:solidFill>
                  <a:srgbClr val="0055A4"/>
                </a:solidFill>
              </a:defRPr>
            </a:pPr>
            <a:r>
              <a:t>1. Өзектілігі және қолданыстағы шешімдерді талдау (Relevance &amp; Analogs)</a:t>
            </a:r>
          </a:p>
        </p:txBody>
      </p:sp>
      <p:sp>
        <p:nvSpPr>
          <p:cNvPr id="4" name="TextBox 3"/>
          <p:cNvSpPr txBox="1"/>
          <p:nvPr/>
        </p:nvSpPr>
        <p:spPr>
          <a:xfrm>
            <a:off x="457200" y="1097280"/>
            <a:ext cx="4572000" cy="457200"/>
          </a:xfrm>
          <a:prstGeom prst="rect">
            <a:avLst/>
          </a:prstGeom>
          <a:noFill/>
        </p:spPr>
        <p:txBody>
          <a:bodyPr wrap="square">
            <a:spAutoFit/>
          </a:bodyPr>
          <a:lstStyle/>
          <a:p>
            <a:pPr algn="l">
              <a:spcAft>
                <a:spcPts val="1000"/>
              </a:spcAft>
              <a:defRPr sz="1600" b="1">
                <a:solidFill>
                  <a:srgbClr val="505A64"/>
                </a:solidFill>
              </a:defRPr>
            </a:pPr>
            <a:r>
              <a:t>Қазақстанның ірі қалаларында (Астана, Алматы) көлік кептелісінің критикалық деңгейге жетуі (ТомТом бойынша 117-ші және 197-ші орындар).</a:t>
            </a:r>
          </a:p>
          <a:p>
            <a:pPr>
              <a:spcAft>
                <a:spcPts val="1000"/>
              </a:spcAft>
              <a:defRPr sz="1600">
                <a:solidFill>
                  <a:srgbClr val="505A64"/>
                </a:solidFill>
              </a:defRPr>
            </a:pPr>
            <a:r>
              <a:t>Қолданыстағы жүйелердің (Сергек) тек айыппұл мен пост-фактум анализге бағытталуы.</a:t>
            </a:r>
          </a:p>
          <a:p>
            <a:pPr>
              <a:spcAft>
                <a:spcPts val="1000"/>
              </a:spcAft>
              <a:defRPr sz="1600">
                <a:solidFill>
                  <a:srgbClr val="505A64"/>
                </a:solidFill>
              </a:defRPr>
            </a:pPr>
            <a:r>
              <a:t>Динамикалық болжау және «Цифрлық Егіз» (Digital Twin) архитектурасының жоқтығы.</a:t>
            </a:r>
          </a:p>
        </p:txBody>
      </p:sp>
      <p:sp>
        <p:nvSpPr>
          <p:cNvPr id="5" name="TextBox 4"/>
          <p:cNvSpPr txBox="1"/>
          <p:nvPr/>
        </p:nvSpPr>
        <p:spPr>
          <a:xfrm>
            <a:off x="457200" y="3200400"/>
            <a:ext cx="4572000" cy="457200"/>
          </a:xfrm>
          <a:prstGeom prst="rect">
            <a:avLst/>
          </a:prstGeom>
          <a:noFill/>
        </p:spPr>
        <p:txBody>
          <a:bodyPr wrap="square">
            <a:spAutoFit/>
          </a:bodyPr>
          <a:lstStyle/>
          <a:p>
            <a:pPr algn="l">
              <a:defRPr sz="2000" b="1">
                <a:solidFill>
                  <a:srgbClr val="141E28"/>
                </a:solidFill>
              </a:defRPr>
            </a:pPr>
            <a:r>
              <a:t>Аналогтармен салыстыру:</a:t>
            </a:r>
          </a:p>
        </p:txBody>
      </p:sp>
      <p:graphicFrame>
        <p:nvGraphicFramePr>
          <p:cNvPr id="6" name="Table 5"/>
          <p:cNvGraphicFramePr>
            <a:graphicFrameLocks noGrp="1"/>
          </p:cNvGraphicFramePr>
          <p:nvPr/>
        </p:nvGraphicFramePr>
        <p:xfrm>
          <a:off x="457200" y="3840480"/>
          <a:ext cx="5486400" cy="2286000"/>
        </p:xfrm>
        <a:graphic>
          <a:graphicData uri="http://schemas.openxmlformats.org/drawingml/2006/table">
            <a:tbl>
              <a:tblPr firstRow="1" bandRow="1">
                <a:tableStyleId>{5C22544A-7EE6-4342-B048-85BDC9FD1C3A}</a:tableStyleId>
              </a:tblPr>
              <a:tblGrid>
                <a:gridCol w="1371600"/>
                <a:gridCol w="1371600"/>
                <a:gridCol w="1371600"/>
                <a:gridCol w="1371600"/>
              </a:tblGrid>
              <a:tr h="571500">
                <a:tc>
                  <a:txBody>
                    <a:bodyPr/>
                    <a:lstStyle/>
                    <a:p>
                      <a:pPr>
                        <a:defRPr b="1" sz="1400"/>
                      </a:pPr>
                      <a:r>
                        <a:t>Параметр</a:t>
                      </a:r>
                    </a:p>
                  </a:txBody>
                  <a:tcPr/>
                </a:tc>
                <a:tc>
                  <a:txBody>
                    <a:bodyPr/>
                    <a:lstStyle/>
                    <a:p>
                      <a:pPr>
                        <a:defRPr b="1" sz="1400"/>
                      </a:pPr>
                      <a:r>
                        <a:t>2GIS</a:t>
                      </a:r>
                    </a:p>
                  </a:txBody>
                  <a:tcPr/>
                </a:tc>
                <a:tc>
                  <a:txBody>
                    <a:bodyPr/>
                    <a:lstStyle/>
                    <a:p>
                      <a:pPr>
                        <a:defRPr b="1" sz="1400"/>
                      </a:pPr>
                      <a:r>
                        <a:t>Сергек</a:t>
                      </a:r>
                    </a:p>
                  </a:txBody>
                  <a:tcPr/>
                </a:tc>
                <a:tc>
                  <a:txBody>
                    <a:bodyPr/>
                    <a:lstStyle/>
                    <a:p>
                      <a:pPr>
                        <a:defRPr b="1" sz="1400"/>
                      </a:pPr>
                      <a:r>
                        <a:t>AI Traffic (Біз)</a:t>
                      </a:r>
                    </a:p>
                  </a:txBody>
                  <a:tcPr/>
                </a:tc>
              </a:tr>
              <a:tr h="571500">
                <a:tc>
                  <a:txBody>
                    <a:bodyPr/>
                    <a:lstStyle/>
                    <a:p>
                      <a:pPr>
                        <a:defRPr sz="1200"/>
                      </a:pPr>
                      <a:r>
                        <a:t>AI Болжау (60 мин)</a:t>
                      </a:r>
                    </a:p>
                  </a:txBody>
                  <a:tcPr/>
                </a:tc>
                <a:tc>
                  <a:txBody>
                    <a:bodyPr/>
                    <a:lstStyle/>
                    <a:p>
                      <a:pPr>
                        <a:defRPr sz="1200"/>
                      </a:pPr>
                      <a:r>
                        <a:t>Шектеулі</a:t>
                      </a:r>
                    </a:p>
                  </a:txBody>
                  <a:tcPr/>
                </a:tc>
                <a:tc>
                  <a:txBody>
                    <a:bodyPr/>
                    <a:lstStyle/>
                    <a:p>
                      <a:pPr>
                        <a:defRPr sz="1200"/>
                      </a:pPr>
                      <a:r>
                        <a:t>Жоқ</a:t>
                      </a:r>
                    </a:p>
                  </a:txBody>
                  <a:tcPr/>
                </a:tc>
                <a:tc>
                  <a:txBody>
                    <a:bodyPr/>
                    <a:lstStyle/>
                    <a:p>
                      <a:pPr>
                        <a:defRPr sz="1200"/>
                      </a:pPr>
                      <a:r>
                        <a:t>Жоғары (LSTM)</a:t>
                      </a:r>
                    </a:p>
                  </a:txBody>
                  <a:tcPr/>
                </a:tc>
              </a:tr>
              <a:tr h="571500">
                <a:tc>
                  <a:txBody>
                    <a:bodyPr/>
                    <a:lstStyle/>
                    <a:p>
                      <a:pPr>
                        <a:defRPr sz="1200"/>
                      </a:pPr>
                      <a:r>
                        <a:t>Аномалия детекторы</a:t>
                      </a:r>
                    </a:p>
                  </a:txBody>
                  <a:tcPr/>
                </a:tc>
                <a:tc>
                  <a:txBody>
                    <a:bodyPr/>
                    <a:lstStyle/>
                    <a:p>
                      <a:pPr>
                        <a:defRPr sz="1200"/>
                      </a:pPr>
                      <a:r>
                        <a:t>Жоқ</a:t>
                      </a:r>
                    </a:p>
                  </a:txBody>
                  <a:tcPr/>
                </a:tc>
                <a:tc>
                  <a:txBody>
                    <a:bodyPr/>
                    <a:lstStyle/>
                    <a:p>
                      <a:pPr>
                        <a:defRPr sz="1200"/>
                      </a:pPr>
                      <a:r>
                        <a:t>Жартылай</a:t>
                      </a:r>
                    </a:p>
                  </a:txBody>
                  <a:tcPr/>
                </a:tc>
                <a:tc>
                  <a:txBody>
                    <a:bodyPr/>
                    <a:lstStyle/>
                    <a:p>
                      <a:pPr>
                        <a:defRPr sz="1200"/>
                      </a:pPr>
                      <a:r>
                        <a:t>Автоматты (Z-Score)</a:t>
                      </a:r>
                    </a:p>
                  </a:txBody>
                  <a:tcPr/>
                </a:tc>
              </a:tr>
              <a:tr h="571500">
                <a:tc>
                  <a:txBody>
                    <a:bodyPr/>
                    <a:lstStyle/>
                    <a:p>
                      <a:pPr>
                        <a:defRPr sz="1200"/>
                      </a:pPr>
                      <a:r>
                        <a:t>Антистресс/Кедергісіз</a:t>
                      </a:r>
                    </a:p>
                  </a:txBody>
                  <a:tcPr/>
                </a:tc>
                <a:tc>
                  <a:txBody>
                    <a:bodyPr/>
                    <a:lstStyle/>
                    <a:p>
                      <a:pPr>
                        <a:defRPr sz="1200"/>
                      </a:pPr>
                      <a:r>
                        <a:t>Жоқ</a:t>
                      </a:r>
                    </a:p>
                  </a:txBody>
                  <a:tcPr/>
                </a:tc>
                <a:tc>
                  <a:txBody>
                    <a:bodyPr/>
                    <a:lstStyle/>
                    <a:p>
                      <a:pPr>
                        <a:defRPr sz="1200"/>
                      </a:pPr>
                      <a:r>
                        <a:t>Жоқ</a:t>
                      </a:r>
                    </a:p>
                  </a:txBody>
                  <a:tcPr/>
                </a:tc>
                <a:tc>
                  <a:txBody>
                    <a:bodyPr/>
                    <a:lstStyle/>
                    <a:p>
                      <a:pPr>
                        <a:defRPr sz="1200"/>
                      </a:pPr>
                      <a:r>
                        <a:t>Толық қолдау</a:t>
                      </a:r>
                    </a:p>
                  </a:txBody>
                  <a:tcPr/>
                </a:tc>
              </a:tr>
            </a:tbl>
          </a:graphicData>
        </a:graphic>
      </p:graphicFrame>
      <p:sp>
        <p:nvSpPr>
          <p:cNvPr id="7" name="TextBox 6"/>
          <p:cNvSpPr txBox="1"/>
          <p:nvPr/>
        </p:nvSpPr>
        <p:spPr>
          <a:xfrm>
            <a:off x="6400800" y="1097280"/>
            <a:ext cx="4572000" cy="457200"/>
          </a:xfrm>
          <a:prstGeom prst="rect">
            <a:avLst/>
          </a:prstGeom>
          <a:noFill/>
        </p:spPr>
        <p:txBody>
          <a:bodyPr wrap="square">
            <a:spAutoFit/>
          </a:bodyPr>
          <a:lstStyle/>
          <a:p>
            <a:pPr algn="ctr">
              <a:defRPr sz="1600" b="1">
                <a:solidFill>
                  <a:srgbClr val="141E28"/>
                </a:solidFill>
              </a:defRPr>
            </a:pPr>
            <a:r>
              <a:t>Астана қаласының ағымдағы кептеліс картасы (Мысал)</a:t>
            </a:r>
          </a:p>
        </p:txBody>
      </p:sp>
      <p:pic>
        <p:nvPicPr>
          <p:cNvPr id="8" name="Picture 7" descr="road_graph.png"/>
          <p:cNvPicPr>
            <a:picLocks noChangeAspect="1"/>
          </p:cNvPicPr>
          <p:nvPr/>
        </p:nvPicPr>
        <p:blipFill>
          <a:blip r:embed="rId2"/>
          <a:stretch>
            <a:fillRect/>
          </a:stretch>
        </p:blipFill>
        <p:spPr>
          <a:xfrm>
            <a:off x="6400800" y="1645920"/>
            <a:ext cx="5029200" cy="5029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731520"/>
            <a:ext cx="12188952" cy="4572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none">
            <a:spAutoFit/>
          </a:bodyPr>
          <a:lstStyle/>
          <a:p>
            <a:pPr>
              <a:defRPr b="1" sz="2800">
                <a:solidFill>
                  <a:srgbClr val="0055A4"/>
                </a:solidFill>
              </a:defRPr>
            </a:pPr>
            <a:r>
              <a:t>2. Жұмыс мақсаты және зерттеу міндеттері</a:t>
            </a:r>
          </a:p>
        </p:txBody>
      </p:sp>
      <p:sp>
        <p:nvSpPr>
          <p:cNvPr id="4" name="TextBox 3"/>
          <p:cNvSpPr txBox="1"/>
          <p:nvPr/>
        </p:nvSpPr>
        <p:spPr>
          <a:xfrm>
            <a:off x="457200" y="1097280"/>
            <a:ext cx="10972800" cy="457200"/>
          </a:xfrm>
          <a:prstGeom prst="rect">
            <a:avLst/>
          </a:prstGeom>
          <a:noFill/>
        </p:spPr>
        <p:txBody>
          <a:bodyPr wrap="square">
            <a:spAutoFit/>
          </a:bodyPr>
          <a:lstStyle/>
          <a:p>
            <a:pPr algn="l">
              <a:defRPr sz="2000" b="1">
                <a:solidFill>
                  <a:srgbClr val="141E28"/>
                </a:solidFill>
              </a:defRPr>
            </a:pPr>
            <a:r>
              <a:t>Зерттеу мақсаты:</a:t>
            </a:r>
          </a:p>
        </p:txBody>
      </p:sp>
      <p:sp>
        <p:nvSpPr>
          <p:cNvPr id="5" name="TextBox 4"/>
          <p:cNvSpPr txBox="1"/>
          <p:nvPr/>
        </p:nvSpPr>
        <p:spPr>
          <a:xfrm>
            <a:off x="457200" y="1554480"/>
            <a:ext cx="10972800" cy="914400"/>
          </a:xfrm>
          <a:prstGeom prst="rect">
            <a:avLst/>
          </a:prstGeom>
          <a:noFill/>
        </p:spPr>
        <p:txBody>
          <a:bodyPr wrap="square">
            <a:spAutoFit/>
          </a:bodyPr>
          <a:lstStyle/>
          <a:p>
            <a:pPr algn="l">
              <a:defRPr sz="1800" b="0">
                <a:solidFill>
                  <a:srgbClr val="505A64"/>
                </a:solidFill>
              </a:defRPr>
            </a:pPr>
            <a:r>
              <a:t>LSTM нейрондық желілік архитектурасы негізінде қалалық трафикті нақты уақыт режимінде мониторингтеуге және кептелісті алдын ала болжауға мүмкіндік беретін кешенді интеллектуалды AI-жүйесін әзірлеу.</a:t>
            </a:r>
          </a:p>
        </p:txBody>
      </p:sp>
      <p:sp>
        <p:nvSpPr>
          <p:cNvPr id="6" name="TextBox 5"/>
          <p:cNvSpPr txBox="1"/>
          <p:nvPr/>
        </p:nvSpPr>
        <p:spPr>
          <a:xfrm>
            <a:off x="457200" y="2926080"/>
            <a:ext cx="10972800" cy="457200"/>
          </a:xfrm>
          <a:prstGeom prst="rect">
            <a:avLst/>
          </a:prstGeom>
          <a:noFill/>
        </p:spPr>
        <p:txBody>
          <a:bodyPr wrap="square">
            <a:spAutoFit/>
          </a:bodyPr>
          <a:lstStyle/>
          <a:p>
            <a:pPr algn="l">
              <a:defRPr sz="2000" b="1">
                <a:solidFill>
                  <a:srgbClr val="141E28"/>
                </a:solidFill>
              </a:defRPr>
            </a:pPr>
            <a:r>
              <a:t>Негізгі міндеттер (Architecture &amp; Software Engineering):</a:t>
            </a:r>
          </a:p>
        </p:txBody>
      </p:sp>
      <p:sp>
        <p:nvSpPr>
          <p:cNvPr id="7" name="Rounded Rectangle 6"/>
          <p:cNvSpPr/>
          <p:nvPr/>
        </p:nvSpPr>
        <p:spPr>
          <a:xfrm>
            <a:off x="457200" y="3657600"/>
            <a:ext cx="5486400" cy="822960"/>
          </a:xfrm>
          <a:prstGeom prst="roundRect">
            <a:avLst/>
          </a:prstGeom>
          <a:solidFill>
            <a:srgbClr val="F0F5FA"/>
          </a:solidFill>
          <a:ln>
            <a:solidFill>
              <a:srgbClr val="0055A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1E28"/>
                </a:solidFill>
              </a:defRPr>
            </a:pPr>
            <a:r>
              <a:t>1. Backend (FastAPI, PostGIS) және интеграциялық API шлюздерін жобалау.</a:t>
            </a:r>
          </a:p>
        </p:txBody>
      </p:sp>
      <p:sp>
        <p:nvSpPr>
          <p:cNvPr id="8" name="Rounded Rectangle 7"/>
          <p:cNvSpPr/>
          <p:nvPr/>
        </p:nvSpPr>
        <p:spPr>
          <a:xfrm>
            <a:off x="6126480" y="3657600"/>
            <a:ext cx="5486400" cy="822960"/>
          </a:xfrm>
          <a:prstGeom prst="roundRect">
            <a:avLst/>
          </a:prstGeom>
          <a:solidFill>
            <a:srgbClr val="F0F5FA"/>
          </a:solidFill>
          <a:ln>
            <a:solidFill>
              <a:srgbClr val="0055A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1E28"/>
                </a:solidFill>
              </a:defRPr>
            </a:pPr>
            <a:r>
              <a:t>2. Уақыттық қатарларды талдау үшін LSTM (PyTorch) моделін оқыту және оңтайландыру.</a:t>
            </a:r>
          </a:p>
        </p:txBody>
      </p:sp>
      <p:sp>
        <p:nvSpPr>
          <p:cNvPr id="9" name="Rounded Rectangle 8"/>
          <p:cNvSpPr/>
          <p:nvPr/>
        </p:nvSpPr>
        <p:spPr>
          <a:xfrm>
            <a:off x="457200" y="4754880"/>
            <a:ext cx="5486400" cy="822960"/>
          </a:xfrm>
          <a:prstGeom prst="roundRect">
            <a:avLst/>
          </a:prstGeom>
          <a:solidFill>
            <a:srgbClr val="F0F5FA"/>
          </a:solidFill>
          <a:ln>
            <a:solidFill>
              <a:srgbClr val="0055A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1E28"/>
                </a:solidFill>
              </a:defRPr>
            </a:pPr>
            <a:r>
              <a:t>3. Cross-platform Мобильді қосымша (Flutter) және Web Dashboard (Vue.js) жасау.</a:t>
            </a:r>
          </a:p>
        </p:txBody>
      </p:sp>
      <p:sp>
        <p:nvSpPr>
          <p:cNvPr id="10" name="Rounded Rectangle 9"/>
          <p:cNvSpPr/>
          <p:nvPr/>
        </p:nvSpPr>
        <p:spPr>
          <a:xfrm>
            <a:off x="6126480" y="4754880"/>
            <a:ext cx="5486400" cy="822960"/>
          </a:xfrm>
          <a:prstGeom prst="roundRect">
            <a:avLst/>
          </a:prstGeom>
          <a:solidFill>
            <a:srgbClr val="F0F5FA"/>
          </a:solidFill>
          <a:ln>
            <a:solidFill>
              <a:srgbClr val="0055A4"/>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1E28"/>
                </a:solidFill>
              </a:defRPr>
            </a:pPr>
            <a:r>
              <a:t>4. Кептеліс «Цифрлық Егізін» (Digital Twin) және маршруттау алгоритмін (Dijkstra/A*) іске асыру.</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731520"/>
            <a:ext cx="12188952" cy="4572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none">
            <a:spAutoFit/>
          </a:bodyPr>
          <a:lstStyle/>
          <a:p>
            <a:pPr>
              <a:defRPr b="1" sz="2800">
                <a:solidFill>
                  <a:srgbClr val="0055A4"/>
                </a:solidFill>
              </a:defRPr>
            </a:pPr>
            <a:r>
              <a:t>3. Жүйе Архитектурасы және ML Алгоритмдерінің интеграциясы</a:t>
            </a:r>
          </a:p>
        </p:txBody>
      </p:sp>
      <p:sp>
        <p:nvSpPr>
          <p:cNvPr id="4" name="TextBox 3"/>
          <p:cNvSpPr txBox="1"/>
          <p:nvPr/>
        </p:nvSpPr>
        <p:spPr>
          <a:xfrm>
            <a:off x="457200" y="1097280"/>
            <a:ext cx="5029200" cy="457200"/>
          </a:xfrm>
          <a:prstGeom prst="rect">
            <a:avLst/>
          </a:prstGeom>
          <a:noFill/>
        </p:spPr>
        <p:txBody>
          <a:bodyPr wrap="square">
            <a:spAutoFit/>
          </a:bodyPr>
          <a:lstStyle/>
          <a:p>
            <a:pPr algn="l">
              <a:defRPr sz="1800" b="1">
                <a:solidFill>
                  <a:srgbClr val="0055A4"/>
                </a:solidFill>
              </a:defRPr>
            </a:pPr>
            <a:r>
              <a:t>ML Болжау Алгоритмі (Функциялар мен Қызметтер)</a:t>
            </a:r>
          </a:p>
        </p:txBody>
      </p:sp>
      <p:sp>
        <p:nvSpPr>
          <p:cNvPr id="5" name="TextBox 4"/>
          <p:cNvSpPr txBox="1"/>
          <p:nvPr/>
        </p:nvSpPr>
        <p:spPr>
          <a:xfrm>
            <a:off x="457200" y="1645920"/>
            <a:ext cx="5029200" cy="4572000"/>
          </a:xfrm>
          <a:prstGeom prst="rect">
            <a:avLst/>
          </a:prstGeom>
          <a:noFill/>
        </p:spPr>
        <p:txBody>
          <a:bodyPr wrap="square">
            <a:spAutoFit/>
          </a:bodyPr>
          <a:lstStyle/>
          <a:p>
            <a:pPr algn="l">
              <a:spcAft>
                <a:spcPts val="1000"/>
              </a:spcAft>
              <a:defRPr sz="1400" b="0">
                <a:solidFill>
                  <a:srgbClr val="505A64"/>
                </a:solidFill>
              </a:defRPr>
            </a:pPr>
            <a:r>
              <a:t>predict_future(history, steps_ahead):</a:t>
            </a:r>
          </a:p>
          <a:p>
            <a:pPr>
              <a:spcAft>
                <a:spcPts val="1000"/>
              </a:spcAft>
              <a:defRPr sz="1400">
                <a:solidFill>
                  <a:srgbClr val="505A64"/>
                </a:solidFill>
              </a:defRPr>
            </a:pPr>
            <a:r>
              <a:t>  - Кіріс: Соңғы 12 уақыттық нүкте (lookback).</a:t>
            </a:r>
          </a:p>
          <a:p>
            <a:pPr>
              <a:spcAft>
                <a:spcPts val="1000"/>
              </a:spcAft>
              <a:defRPr sz="1400">
                <a:solidFill>
                  <a:srgbClr val="505A64"/>
                </a:solidFill>
              </a:defRPr>
            </a:pPr>
            <a:r>
              <a:t>  - Процесс: PyTorch тензорлары арқылы алға таралу (forward pass).</a:t>
            </a:r>
          </a:p>
          <a:p>
            <a:pPr>
              <a:spcAft>
                <a:spcPts val="1000"/>
              </a:spcAft>
              <a:defRPr sz="1400">
                <a:solidFill>
                  <a:srgbClr val="505A64"/>
                </a:solidFill>
              </a:defRPr>
            </a:pPr>
            <a:r>
              <a:t>  - Шығыс: Келесі 30-60 минутқа трафик индексі (0-100).</a:t>
            </a:r>
          </a:p>
          <a:p>
            <a:pPr>
              <a:spcAft>
                <a:spcPts val="1000"/>
              </a:spcAft>
              <a:defRPr sz="1400">
                <a:solidFill>
                  <a:srgbClr val="505A64"/>
                </a:solidFill>
              </a:defRPr>
            </a:pPr>
          </a:p>
          <a:p>
            <a:pPr>
              <a:spcAft>
                <a:spcPts val="1000"/>
              </a:spcAft>
              <a:defRPr sz="1400">
                <a:solidFill>
                  <a:srgbClr val="505A64"/>
                </a:solidFill>
              </a:defRPr>
            </a:pPr>
            <a:r>
              <a:t>predict_ema(series, alpha=0.4):</a:t>
            </a:r>
          </a:p>
          <a:p>
            <a:pPr>
              <a:spcAft>
                <a:spcPts val="1000"/>
              </a:spcAft>
              <a:defRPr sz="1400">
                <a:solidFill>
                  <a:srgbClr val="505A64"/>
                </a:solidFill>
              </a:defRPr>
            </a:pPr>
            <a:r>
              <a:t>  - Экспоненциалды жылжымалы орташа мән.</a:t>
            </a:r>
          </a:p>
          <a:p>
            <a:pPr>
              <a:spcAft>
                <a:spcPts val="1000"/>
              </a:spcAft>
              <a:defRPr sz="1400">
                <a:solidFill>
                  <a:srgbClr val="505A64"/>
                </a:solidFill>
              </a:defRPr>
            </a:pPr>
            <a:r>
              <a:t>  - Трафиктегі күрт өзгерістерге тез реакция береді.</a:t>
            </a:r>
          </a:p>
          <a:p>
            <a:pPr>
              <a:spcAft>
                <a:spcPts val="1000"/>
              </a:spcAft>
              <a:defRPr sz="1400">
                <a:solidFill>
                  <a:srgbClr val="505A64"/>
                </a:solidFill>
              </a:defRPr>
            </a:pPr>
          </a:p>
          <a:p>
            <a:pPr>
              <a:spcAft>
                <a:spcPts val="1000"/>
              </a:spcAft>
              <a:defRPr sz="1400">
                <a:solidFill>
                  <a:srgbClr val="505A64"/>
                </a:solidFill>
              </a:defRPr>
            </a:pPr>
            <a:r>
              <a:t>detect_anomaly(series):</a:t>
            </a:r>
          </a:p>
          <a:p>
            <a:pPr>
              <a:spcAft>
                <a:spcPts val="1000"/>
              </a:spcAft>
              <a:defRPr sz="1400">
                <a:solidFill>
                  <a:srgbClr val="505A64"/>
                </a:solidFill>
              </a:defRPr>
            </a:pPr>
            <a:r>
              <a:t>  - Соңғы 10 нүктедегі жылдамдықтың күрт төмендеуін талдайды (Z-Score негізінде).</a:t>
            </a:r>
          </a:p>
          <a:p>
            <a:pPr>
              <a:spcAft>
                <a:spcPts val="1000"/>
              </a:spcAft>
              <a:defRPr sz="1400">
                <a:solidFill>
                  <a:srgbClr val="505A64"/>
                </a:solidFill>
              </a:defRPr>
            </a:pPr>
            <a:r>
              <a:t>  - 'Critical' деңгейінде баламалы маршрут ұсынады.</a:t>
            </a:r>
          </a:p>
        </p:txBody>
      </p:sp>
      <p:sp>
        <p:nvSpPr>
          <p:cNvPr id="6" name="TextBox 5"/>
          <p:cNvSpPr txBox="1"/>
          <p:nvPr/>
        </p:nvSpPr>
        <p:spPr>
          <a:xfrm>
            <a:off x="5943600" y="1097280"/>
            <a:ext cx="5486400" cy="457200"/>
          </a:xfrm>
          <a:prstGeom prst="rect">
            <a:avLst/>
          </a:prstGeom>
          <a:noFill/>
        </p:spPr>
        <p:txBody>
          <a:bodyPr wrap="square">
            <a:spAutoFit/>
          </a:bodyPr>
          <a:lstStyle/>
          <a:p>
            <a:pPr algn="l">
              <a:defRPr sz="1800" b="1">
                <a:solidFill>
                  <a:srgbClr val="0055A4"/>
                </a:solidFill>
              </a:defRPr>
            </a:pPr>
            <a:r>
              <a:t>Жүйелік Архитектура (Component Diagram)</a:t>
            </a:r>
          </a:p>
        </p:txBody>
      </p:sp>
      <p:pic>
        <p:nvPicPr>
          <p:cNvPr id="7" name="Picture 6" descr="diag_architecture.png"/>
          <p:cNvPicPr>
            <a:picLocks noChangeAspect="1"/>
          </p:cNvPicPr>
          <p:nvPr/>
        </p:nvPicPr>
        <p:blipFill>
          <a:blip r:embed="rId2"/>
          <a:stretch>
            <a:fillRect/>
          </a:stretch>
        </p:blipFill>
        <p:spPr>
          <a:xfrm>
            <a:off x="5943600" y="1645920"/>
            <a:ext cx="5760720" cy="3828403"/>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731520"/>
            <a:ext cx="12188952" cy="4572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none">
            <a:spAutoFit/>
          </a:bodyPr>
          <a:lstStyle/>
          <a:p>
            <a:pPr>
              <a:defRPr b="1" sz="2800">
                <a:solidFill>
                  <a:srgbClr val="0055A4"/>
                </a:solidFill>
              </a:defRPr>
            </a:pPr>
            <a:r>
              <a:t>4. Модель нәтижелері және Математикалық негіздеме</a:t>
            </a:r>
          </a:p>
        </p:txBody>
      </p:sp>
      <p:sp>
        <p:nvSpPr>
          <p:cNvPr id="4" name="TextBox 3"/>
          <p:cNvSpPr txBox="1"/>
          <p:nvPr/>
        </p:nvSpPr>
        <p:spPr>
          <a:xfrm>
            <a:off x="457200" y="1097280"/>
            <a:ext cx="5029200" cy="457200"/>
          </a:xfrm>
          <a:prstGeom prst="rect">
            <a:avLst/>
          </a:prstGeom>
          <a:noFill/>
        </p:spPr>
        <p:txBody>
          <a:bodyPr wrap="square">
            <a:spAutoFit/>
          </a:bodyPr>
          <a:lstStyle/>
          <a:p>
            <a:pPr algn="l">
              <a:defRPr sz="1800" b="1">
                <a:solidFill>
                  <a:srgbClr val="0055A4"/>
                </a:solidFill>
              </a:defRPr>
            </a:pPr>
            <a:r>
              <a:t>Метрикалардың математикалық мағынасы</a:t>
            </a:r>
          </a:p>
        </p:txBody>
      </p:sp>
      <p:sp>
        <p:nvSpPr>
          <p:cNvPr id="5" name="TextBox 4"/>
          <p:cNvSpPr txBox="1"/>
          <p:nvPr/>
        </p:nvSpPr>
        <p:spPr>
          <a:xfrm>
            <a:off x="457200" y="1645920"/>
            <a:ext cx="5029200" cy="4572000"/>
          </a:xfrm>
          <a:prstGeom prst="rect">
            <a:avLst/>
          </a:prstGeom>
          <a:noFill/>
        </p:spPr>
        <p:txBody>
          <a:bodyPr wrap="square">
            <a:spAutoFit/>
          </a:bodyPr>
          <a:lstStyle/>
          <a:p>
            <a:pPr algn="l">
              <a:spcAft>
                <a:spcPts val="1000"/>
              </a:spcAft>
              <a:defRPr sz="1400" b="0">
                <a:solidFill>
                  <a:srgbClr val="505A64"/>
                </a:solidFill>
              </a:defRPr>
            </a:pPr>
            <a:r>
              <a:t>MAE (Mean Absolute Error):</a:t>
            </a:r>
          </a:p>
          <a:p>
            <a:pPr>
              <a:spcAft>
                <a:spcPts val="1000"/>
              </a:spcAft>
              <a:defRPr sz="1400">
                <a:solidFill>
                  <a:srgbClr val="505A64"/>
                </a:solidFill>
              </a:defRPr>
            </a:pPr>
            <a:r>
              <a:t>  - Функция: mae_rmse()</a:t>
            </a:r>
          </a:p>
          <a:p>
            <a:pPr>
              <a:spcAft>
                <a:spcPts val="1000"/>
              </a:spcAft>
              <a:defRPr sz="1400">
                <a:solidFill>
                  <a:srgbClr val="505A64"/>
                </a:solidFill>
              </a:defRPr>
            </a:pPr>
            <a:r>
              <a:t>  - Қызметі: Болжам мен нақты деректің абсолютті ауытқуын есептеу.</a:t>
            </a:r>
          </a:p>
          <a:p>
            <a:pPr>
              <a:spcAft>
                <a:spcPts val="1000"/>
              </a:spcAft>
              <a:defRPr sz="1400">
                <a:solidFill>
                  <a:srgbClr val="505A64"/>
                </a:solidFill>
              </a:defRPr>
            </a:pPr>
            <a:r>
              <a:t>  - Түсіндірме: Егер MAE = 0.08 болса, модель трафик жүктемесін тек 8% қателікпен болжайды деген сөз.</a:t>
            </a:r>
          </a:p>
          <a:p>
            <a:pPr>
              <a:spcAft>
                <a:spcPts val="1000"/>
              </a:spcAft>
              <a:defRPr sz="1400">
                <a:solidFill>
                  <a:srgbClr val="505A64"/>
                </a:solidFill>
              </a:defRPr>
            </a:pPr>
          </a:p>
          <a:p>
            <a:pPr>
              <a:spcAft>
                <a:spcPts val="1000"/>
              </a:spcAft>
              <a:defRPr sz="1400">
                <a:solidFill>
                  <a:srgbClr val="505A64"/>
                </a:solidFill>
              </a:defRPr>
            </a:pPr>
            <a:r>
              <a:t>RMSE (Root Mean Square Error):</a:t>
            </a:r>
          </a:p>
          <a:p>
            <a:pPr>
              <a:spcAft>
                <a:spcPts val="1000"/>
              </a:spcAft>
              <a:defRPr sz="1400">
                <a:solidFill>
                  <a:srgbClr val="505A64"/>
                </a:solidFill>
              </a:defRPr>
            </a:pPr>
            <a:r>
              <a:t>  - Қызметі: Жалған және өте үлкен аномалияларды (шұғыл кептелістерді) қаттырақ жазалайтын метрика.</a:t>
            </a:r>
          </a:p>
          <a:p>
            <a:pPr>
              <a:spcAft>
                <a:spcPts val="1000"/>
              </a:spcAft>
              <a:defRPr sz="1400">
                <a:solidFill>
                  <a:srgbClr val="505A64"/>
                </a:solidFill>
              </a:defRPr>
            </a:pPr>
          </a:p>
          <a:p>
            <a:pPr>
              <a:spcAft>
                <a:spcPts val="1000"/>
              </a:spcAft>
              <a:defRPr sz="1400">
                <a:solidFill>
                  <a:srgbClr val="505A64"/>
                </a:solidFill>
              </a:defRPr>
            </a:pPr>
            <a:r>
              <a:t>Linear Regression Trend:</a:t>
            </a:r>
          </a:p>
          <a:p>
            <a:pPr>
              <a:spcAft>
                <a:spcPts val="1000"/>
              </a:spcAft>
              <a:defRPr sz="1400">
                <a:solidFill>
                  <a:srgbClr val="505A64"/>
                </a:solidFill>
              </a:defRPr>
            </a:pPr>
            <a:r>
              <a:t>  - Функция: predict_trend_lr()</a:t>
            </a:r>
          </a:p>
          <a:p>
            <a:pPr>
              <a:spcAft>
                <a:spcPts val="1000"/>
              </a:spcAft>
              <a:defRPr sz="1400">
                <a:solidFill>
                  <a:srgbClr val="505A64"/>
                </a:solidFill>
              </a:defRPr>
            </a:pPr>
            <a:r>
              <a:t>  - a = Σ(x-mx)(y-my) / Σ(x-mx)²</a:t>
            </a:r>
          </a:p>
          <a:p>
            <a:pPr>
              <a:spcAft>
                <a:spcPts val="1000"/>
              </a:spcAft>
              <a:defRPr sz="1400">
                <a:solidFill>
                  <a:srgbClr val="505A64"/>
                </a:solidFill>
              </a:defRPr>
            </a:pPr>
            <a:r>
              <a:t>  - Локальді бағытты (өсу/кему) анықтайды.</a:t>
            </a:r>
          </a:p>
        </p:txBody>
      </p:sp>
      <p:sp>
        <p:nvSpPr>
          <p:cNvPr id="6" name="TextBox 5"/>
          <p:cNvSpPr txBox="1"/>
          <p:nvPr/>
        </p:nvSpPr>
        <p:spPr>
          <a:xfrm>
            <a:off x="5943600" y="1097280"/>
            <a:ext cx="5486400" cy="457200"/>
          </a:xfrm>
          <a:prstGeom prst="rect">
            <a:avLst/>
          </a:prstGeom>
          <a:noFill/>
        </p:spPr>
        <p:txBody>
          <a:bodyPr wrap="square">
            <a:spAutoFit/>
          </a:bodyPr>
          <a:lstStyle/>
          <a:p>
            <a:pPr algn="l">
              <a:defRPr sz="1800" b="1">
                <a:solidFill>
                  <a:srgbClr val="0055A4"/>
                </a:solidFill>
              </a:defRPr>
            </a:pPr>
            <a:r>
              <a:t>LSTM моделінің Эксперименттік Нәтижелері</a:t>
            </a:r>
          </a:p>
        </p:txBody>
      </p:sp>
      <p:graphicFrame>
        <p:nvGraphicFramePr>
          <p:cNvPr id="7" name="Table 6"/>
          <p:cNvGraphicFramePr>
            <a:graphicFrameLocks noGrp="1"/>
          </p:cNvGraphicFramePr>
          <p:nvPr/>
        </p:nvGraphicFramePr>
        <p:xfrm>
          <a:off x="5943600" y="1645920"/>
          <a:ext cx="5486400" cy="1371600"/>
        </p:xfrm>
        <a:graphic>
          <a:graphicData uri="http://schemas.openxmlformats.org/drawingml/2006/table">
            <a:tbl>
              <a:tblPr firstRow="1" bandRow="1">
                <a:tableStyleId>{5C22544A-7EE6-4342-B048-85BDC9FD1C3A}</a:tableStyleId>
              </a:tblPr>
              <a:tblGrid>
                <a:gridCol w="1371600"/>
                <a:gridCol w="1371600"/>
                <a:gridCol w="1371600"/>
                <a:gridCol w="1371600"/>
              </a:tblGrid>
              <a:tr h="342900">
                <a:tc>
                  <a:txBody>
                    <a:bodyPr/>
                    <a:lstStyle/>
                    <a:p>
                      <a:pPr>
                        <a:defRPr b="1"/>
                      </a:pPr>
                      <a:r>
                        <a:t>Модель</a:t>
                      </a:r>
                    </a:p>
                  </a:txBody>
                  <a:tcPr/>
                </a:tc>
                <a:tc>
                  <a:txBody>
                    <a:bodyPr/>
                    <a:lstStyle/>
                    <a:p>
                      <a:pPr>
                        <a:defRPr b="1"/>
                      </a:pPr>
                      <a:r>
                        <a:t>MAE</a:t>
                      </a:r>
                    </a:p>
                  </a:txBody>
                  <a:tcPr/>
                </a:tc>
                <a:tc>
                  <a:txBody>
                    <a:bodyPr/>
                    <a:lstStyle/>
                    <a:p>
                      <a:pPr>
                        <a:defRPr b="1"/>
                      </a:pPr>
                      <a:r>
                        <a:t>RMSE</a:t>
                      </a:r>
                    </a:p>
                  </a:txBody>
                  <a:tcPr/>
                </a:tc>
                <a:tc>
                  <a:txBody>
                    <a:bodyPr/>
                    <a:lstStyle/>
                    <a:p>
                      <a:pPr>
                        <a:defRPr b="1"/>
                      </a:pPr>
                      <a:r>
                        <a:t>Accuracy</a:t>
                      </a:r>
                    </a:p>
                  </a:txBody>
                  <a:tcPr/>
                </a:tc>
              </a:tr>
              <a:tr h="342900">
                <a:tc>
                  <a:txBody>
                    <a:bodyPr/>
                    <a:lstStyle/>
                    <a:p>
                      <a:r>
                        <a:t>Linear Regression</a:t>
                      </a:r>
                    </a:p>
                  </a:txBody>
                  <a:tcPr/>
                </a:tc>
                <a:tc>
                  <a:txBody>
                    <a:bodyPr/>
                    <a:lstStyle/>
                    <a:p>
                      <a:r>
                        <a:t>0.18</a:t>
                      </a:r>
                    </a:p>
                  </a:txBody>
                  <a:tcPr/>
                </a:tc>
                <a:tc>
                  <a:txBody>
                    <a:bodyPr/>
                    <a:lstStyle/>
                    <a:p>
                      <a:r>
                        <a:t>0.24</a:t>
                      </a:r>
                    </a:p>
                  </a:txBody>
                  <a:tcPr/>
                </a:tc>
                <a:tc>
                  <a:txBody>
                    <a:bodyPr/>
                    <a:lstStyle/>
                    <a:p>
                      <a:r>
                        <a:t>72.1%</a:t>
                      </a:r>
                    </a:p>
                  </a:txBody>
                  <a:tcPr/>
                </a:tc>
              </a:tr>
              <a:tr h="342900">
                <a:tc>
                  <a:txBody>
                    <a:bodyPr/>
                    <a:lstStyle/>
                    <a:p>
                      <a:r>
                        <a:t>Random Forest</a:t>
                      </a:r>
                    </a:p>
                  </a:txBody>
                  <a:tcPr/>
                </a:tc>
                <a:tc>
                  <a:txBody>
                    <a:bodyPr/>
                    <a:lstStyle/>
                    <a:p>
                      <a:r>
                        <a:t>0.11</a:t>
                      </a:r>
                    </a:p>
                  </a:txBody>
                  <a:tcPr/>
                </a:tc>
                <a:tc>
                  <a:txBody>
                    <a:bodyPr/>
                    <a:lstStyle/>
                    <a:p>
                      <a:r>
                        <a:t>0.16</a:t>
                      </a:r>
                    </a:p>
                  </a:txBody>
                  <a:tcPr/>
                </a:tc>
                <a:tc>
                  <a:txBody>
                    <a:bodyPr/>
                    <a:lstStyle/>
                    <a:p>
                      <a:r>
                        <a:t>81.5%</a:t>
                      </a:r>
                    </a:p>
                  </a:txBody>
                  <a:tcPr/>
                </a:tc>
              </a:tr>
              <a:tr h="342900">
                <a:tc>
                  <a:txBody>
                    <a:bodyPr/>
                    <a:lstStyle/>
                    <a:p>
                      <a:pPr>
                        <a:defRPr b="1">
                          <a:solidFill>
                            <a:srgbClr val="008000"/>
                          </a:solidFill>
                        </a:defRPr>
                      </a:pPr>
                      <a:r>
                        <a:t>LSTM (Ұсынылған)</a:t>
                      </a:r>
                    </a:p>
                  </a:txBody>
                  <a:tcPr/>
                </a:tc>
                <a:tc>
                  <a:txBody>
                    <a:bodyPr/>
                    <a:lstStyle/>
                    <a:p>
                      <a:pPr>
                        <a:defRPr b="1">
                          <a:solidFill>
                            <a:srgbClr val="008000"/>
                          </a:solidFill>
                        </a:defRPr>
                      </a:pPr>
                      <a:r>
                        <a:t>0.08</a:t>
                      </a:r>
                    </a:p>
                  </a:txBody>
                  <a:tcPr/>
                </a:tc>
                <a:tc>
                  <a:txBody>
                    <a:bodyPr/>
                    <a:lstStyle/>
                    <a:p>
                      <a:pPr>
                        <a:defRPr b="1">
                          <a:solidFill>
                            <a:srgbClr val="008000"/>
                          </a:solidFill>
                        </a:defRPr>
                      </a:pPr>
                      <a:r>
                        <a:t>0.12</a:t>
                      </a:r>
                    </a:p>
                  </a:txBody>
                  <a:tcPr/>
                </a:tc>
                <a:tc>
                  <a:txBody>
                    <a:bodyPr/>
                    <a:lstStyle/>
                    <a:p>
                      <a:pPr>
                        <a:defRPr b="1">
                          <a:solidFill>
                            <a:srgbClr val="008000"/>
                          </a:solidFill>
                        </a:defRPr>
                      </a:pPr>
                      <a:r>
                        <a:t>87.4%</a:t>
                      </a:r>
                    </a:p>
                  </a:txBody>
                  <a:tcPr/>
                </a:tc>
              </a:tr>
            </a:tbl>
          </a:graphicData>
        </a:graphic>
      </p:graphicFrame>
      <p:pic>
        <p:nvPicPr>
          <p:cNvPr id="8" name="Picture 7" descr="mae_rmse_chart.png"/>
          <p:cNvPicPr>
            <a:picLocks noChangeAspect="1"/>
          </p:cNvPicPr>
          <p:nvPr/>
        </p:nvPicPr>
        <p:blipFill>
          <a:blip r:embed="rId2"/>
          <a:stretch>
            <a:fillRect/>
          </a:stretch>
        </p:blipFill>
        <p:spPr>
          <a:xfrm>
            <a:off x="5943600" y="3291840"/>
            <a:ext cx="5760720" cy="2441007"/>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731520"/>
            <a:ext cx="12188952" cy="4572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none">
            <a:spAutoFit/>
          </a:bodyPr>
          <a:lstStyle/>
          <a:p>
            <a:pPr>
              <a:defRPr b="1" sz="2800">
                <a:solidFill>
                  <a:srgbClr val="0055A4"/>
                </a:solidFill>
              </a:defRPr>
            </a:pPr>
            <a:r>
              <a:t>5. Жүйенің инновациялық шешімдері: Digital Twin &amp; Multimodal</a:t>
            </a:r>
          </a:p>
        </p:txBody>
      </p:sp>
      <p:sp>
        <p:nvSpPr>
          <p:cNvPr id="4" name="TextBox 3"/>
          <p:cNvSpPr txBox="1"/>
          <p:nvPr/>
        </p:nvSpPr>
        <p:spPr>
          <a:xfrm>
            <a:off x="457200" y="1097280"/>
            <a:ext cx="5486400" cy="457200"/>
          </a:xfrm>
          <a:prstGeom prst="rect">
            <a:avLst/>
          </a:prstGeom>
          <a:noFill/>
        </p:spPr>
        <p:txBody>
          <a:bodyPr wrap="square">
            <a:spAutoFit/>
          </a:bodyPr>
          <a:lstStyle/>
          <a:p>
            <a:pPr algn="l">
              <a:spcAft>
                <a:spcPts val="1000"/>
              </a:spcAft>
              <a:defRPr sz="1500" b="1">
                <a:solidFill>
                  <a:srgbClr val="505A64"/>
                </a:solidFill>
              </a:defRPr>
            </a:pPr>
            <a:r>
              <a:t>What-If Симуляторы (Digital Twin): Жол жөндеу немесе апат кезінде трафик ағынының қалай өзгеретінін алдын ала симуляциялау (simulate_closure API).</a:t>
            </a:r>
          </a:p>
          <a:p>
            <a:pPr>
              <a:spcAft>
                <a:spcPts val="1000"/>
              </a:spcAft>
              <a:defRPr sz="1500">
                <a:solidFill>
                  <a:srgbClr val="505A64"/>
                </a:solidFill>
              </a:defRPr>
            </a:pPr>
            <a:r>
              <a:t>Multimodal Analysis: Кептеліс критикалық деңгейге жеткенде, алгоритм автокөлікті қойып, самокатпен немесе жаяу жүруді ұсынады.</a:t>
            </a:r>
          </a:p>
          <a:p>
            <a:pPr>
              <a:spcAft>
                <a:spcPts val="1000"/>
              </a:spcAft>
              <a:defRPr sz="1500">
                <a:solidFill>
                  <a:srgbClr val="505A64"/>
                </a:solidFill>
              </a:defRPr>
            </a:pPr>
            <a:r>
              <a:t>Инклюзивті бағыттау: «Кедергісіз орта» режимі баспалдақтар мен кедергілерді айналып өтеді.</a:t>
            </a:r>
          </a:p>
          <a:p>
            <a:pPr>
              <a:spcAft>
                <a:spcPts val="1000"/>
              </a:spcAft>
              <a:defRPr sz="1500">
                <a:solidFill>
                  <a:srgbClr val="505A64"/>
                </a:solidFill>
              </a:defRPr>
            </a:pPr>
            <a:r>
              <a:t>Ауа-райы интеграциясы: Метео-деректер көлік ағынының жылдамдығына математикалық коэффициент (factor = 1.15 - 2.0) ретінде әсер етеді.</a:t>
            </a:r>
          </a:p>
        </p:txBody>
      </p:sp>
      <p:pic>
        <p:nvPicPr>
          <p:cNvPr id="5" name="Picture 4" descr="diag_twin.png"/>
          <p:cNvPicPr>
            <a:picLocks noChangeAspect="1"/>
          </p:cNvPicPr>
          <p:nvPr/>
        </p:nvPicPr>
        <p:blipFill>
          <a:blip r:embed="rId2"/>
          <a:stretch>
            <a:fillRect/>
          </a:stretch>
        </p:blipFill>
        <p:spPr>
          <a:xfrm>
            <a:off x="6400800" y="1371600"/>
            <a:ext cx="5029200" cy="282984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1" name=""/>
        <p:cNvGrpSpPr/>
        <p:nvPr/>
      </p:nvGrpSpPr>
      <p:grpSpPr/>
      <p:sp>
        <p:nvSpPr>
          <p:cNvPr id="2" name="Rectangle 1"/>
          <p:cNvSpPr/>
          <p:nvPr/>
        </p:nvSpPr>
        <p:spPr>
          <a:xfrm>
            <a:off x="0" y="731520"/>
            <a:ext cx="12188952" cy="45720"/>
          </a:xfrm>
          <a:prstGeom prst="rect">
            <a:avLst/>
          </a:prstGeom>
          <a:solidFill>
            <a:srgbClr val="005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82880"/>
            <a:ext cx="10972800" cy="548640"/>
          </a:xfrm>
          <a:prstGeom prst="rect">
            <a:avLst/>
          </a:prstGeom>
          <a:noFill/>
        </p:spPr>
        <p:txBody>
          <a:bodyPr wrap="none">
            <a:spAutoFit/>
          </a:bodyPr>
          <a:lstStyle/>
          <a:p>
            <a:pPr>
              <a:defRPr b="1" sz="2800">
                <a:solidFill>
                  <a:srgbClr val="0055A4"/>
                </a:solidFill>
              </a:defRPr>
            </a:pPr>
            <a:r>
              <a:t>6. Қорытынды және Практикалық Маңызы</a:t>
            </a:r>
          </a:p>
        </p:txBody>
      </p:sp>
      <p:sp>
        <p:nvSpPr>
          <p:cNvPr id="4" name="TextBox 3"/>
          <p:cNvSpPr txBox="1"/>
          <p:nvPr/>
        </p:nvSpPr>
        <p:spPr>
          <a:xfrm>
            <a:off x="457200" y="1097280"/>
            <a:ext cx="10972800" cy="457200"/>
          </a:xfrm>
          <a:prstGeom prst="rect">
            <a:avLst/>
          </a:prstGeom>
          <a:noFill/>
        </p:spPr>
        <p:txBody>
          <a:bodyPr wrap="square">
            <a:spAutoFit/>
          </a:bodyPr>
          <a:lstStyle/>
          <a:p>
            <a:pPr algn="l">
              <a:spcAft>
                <a:spcPts val="1000"/>
              </a:spcAft>
              <a:defRPr sz="1600" b="1">
                <a:solidFill>
                  <a:srgbClr val="505A64"/>
                </a:solidFill>
              </a:defRPr>
            </a:pPr>
            <a:r>
              <a:t>PyTorch негізінде LSTM нейрондық желісі әзірленіп, дәлдігі 87.4%-ға жеткізілді.</a:t>
            </a:r>
          </a:p>
          <a:p>
            <a:pPr>
              <a:spcAft>
                <a:spcPts val="1000"/>
              </a:spcAft>
              <a:defRPr sz="1600">
                <a:solidFill>
                  <a:srgbClr val="505A64"/>
                </a:solidFill>
              </a:defRPr>
            </a:pPr>
            <a:r>
              <a:t>Микросервистік архитектура (FastAPI) және мобильді клиент (Flutter) толықтай іске қосылды.</a:t>
            </a:r>
          </a:p>
          <a:p>
            <a:pPr>
              <a:spcAft>
                <a:spcPts val="1000"/>
              </a:spcAft>
              <a:defRPr sz="1600">
                <a:solidFill>
                  <a:srgbClr val="505A64"/>
                </a:solidFill>
              </a:defRPr>
            </a:pPr>
            <a:r>
              <a:t>Қазақстанның климаттық және инфрақұрылымдық ерекшеліктерін ескеретін алгоритмдер құрылды.</a:t>
            </a:r>
          </a:p>
        </p:txBody>
      </p:sp>
      <p:sp>
        <p:nvSpPr>
          <p:cNvPr id="5" name="Rounded Rectangle 4"/>
          <p:cNvSpPr/>
          <p:nvPr/>
        </p:nvSpPr>
        <p:spPr>
          <a:xfrm>
            <a:off x="914400" y="3657600"/>
            <a:ext cx="3200400" cy="1371600"/>
          </a:xfrm>
          <a:prstGeom prst="roundRect">
            <a:avLst/>
          </a:prstGeom>
          <a:solidFill>
            <a:srgbClr val="E6F0FF"/>
          </a:solidFill>
          <a:ln>
            <a:solidFill>
              <a:srgbClr val="0055A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55A4"/>
                </a:solidFill>
              </a:defRPr>
            </a:pPr>
            <a:r>
              <a:t>Экономикалық тиімділік</a:t>
            </a:r>
          </a:p>
          <a:p>
            <a:r>
              <a:t>Кептелістегі уақытты 20%-ға қысқарту</a:t>
            </a:r>
          </a:p>
        </p:txBody>
      </p:sp>
      <p:sp>
        <p:nvSpPr>
          <p:cNvPr id="6" name="Rounded Rectangle 5"/>
          <p:cNvSpPr/>
          <p:nvPr/>
        </p:nvSpPr>
        <p:spPr>
          <a:xfrm>
            <a:off x="4572000" y="3657600"/>
            <a:ext cx="3200400" cy="1371600"/>
          </a:xfrm>
          <a:prstGeom prst="roundRect">
            <a:avLst/>
          </a:prstGeom>
          <a:solidFill>
            <a:srgbClr val="E6FFF0"/>
          </a:solidFill>
          <a:ln>
            <a:solidFill>
              <a:srgbClr val="009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06400"/>
                </a:solidFill>
              </a:defRPr>
            </a:pPr>
            <a:r>
              <a:t>Экологиялық тиімділік</a:t>
            </a:r>
          </a:p>
          <a:p>
            <a:r>
              <a:t>CO2 шығарындыларын азайту</a:t>
            </a:r>
          </a:p>
        </p:txBody>
      </p:sp>
      <p:sp>
        <p:nvSpPr>
          <p:cNvPr id="7" name="Rounded Rectangle 6"/>
          <p:cNvSpPr/>
          <p:nvPr/>
        </p:nvSpPr>
        <p:spPr>
          <a:xfrm>
            <a:off x="8229600" y="3657600"/>
            <a:ext cx="3200400" cy="1371600"/>
          </a:xfrm>
          <a:prstGeom prst="roundRect">
            <a:avLst/>
          </a:prstGeom>
          <a:solidFill>
            <a:srgbClr val="FFF0F0"/>
          </a:solidFill>
          <a:ln>
            <a:solidFill>
              <a:srgbClr val="C81E1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C81E1E"/>
                </a:solidFill>
              </a:defRPr>
            </a:pPr>
            <a:r>
              <a:t>Әлеуметтік маңыздылығы</a:t>
            </a:r>
          </a:p>
          <a:p>
            <a:r>
              <a:t>Инклюзивті орта және ДТП жедел реакциясы</a:t>
            </a:r>
          </a:p>
        </p:txBody>
      </p:sp>
      <p:sp>
        <p:nvSpPr>
          <p:cNvPr id="8" name="TextBox 7"/>
          <p:cNvSpPr txBox="1"/>
          <p:nvPr/>
        </p:nvSpPr>
        <p:spPr>
          <a:xfrm>
            <a:off x="457200" y="5669280"/>
            <a:ext cx="10972800" cy="914400"/>
          </a:xfrm>
          <a:prstGeom prst="rect">
            <a:avLst/>
          </a:prstGeom>
          <a:noFill/>
        </p:spPr>
        <p:txBody>
          <a:bodyPr wrap="square">
            <a:spAutoFit/>
          </a:bodyPr>
          <a:lstStyle/>
          <a:p>
            <a:pPr algn="ctr">
              <a:defRPr sz="2800" b="1">
                <a:solidFill>
                  <a:srgbClr val="0055A4"/>
                </a:solidFill>
              </a:defRPr>
            </a:pPr>
            <a:r>
              <a:t>Назарларыңызға рақмет!</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