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Қалалық ортадағы көлік ағындарын бақылау мен болжауға арналған интеллектуалды жүйені архитектуралық жобалау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  <a:latin typeface="Segoe UI"/>
              </a:defRPr>
            </a:pPr>
            <a:r>
              <a:t>PhD Dissertation Defense / Докторлық Диссертация Қорғау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"/>
              </a:defRPr>
            </a:pPr>
            <a:r>
              <a:t>Спикер: Сулейменов Алишер</a:t>
            </a:r>
            <a:br/>
            <a:r>
              <a:t>Ғылыми жетекшісі: Кусаинова Айнұр</a:t>
            </a:r>
            <a:br/>
            <a:r>
              <a:t>ЕҰУ им. Л.Н. Гумилева | Факультет Информационных Технологий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F2043"/>
                </a:solidFill>
                <a:latin typeface="Segoe UI"/>
              </a:defRPr>
            </a:pPr>
            <a:r>
              <a:t>1. Зерттеудің Өзектілігі (Relevance &amp; Motivation)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• Қазақстанның ірі қалаларында көлік кептелісінің критикалық деңгейі (TomTom: 117 және 197 орындар).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• Қолданыстағы жүйелердің (мысалы, 'Сергек') шектеулері: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   - Тек айыппұл салуға және пост-фактум талдауға бағытталған.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   - Кептелісті алдын ала динамикалық болжау мүмкіндігі жоқ.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• Архитектуралық олқылықтар: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   - Нақты уақыттағы 'Цифрлық Егіз' (Digital Twin) тұжырымдамасының жоқтығы.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   - Ауа-райы мен инфрақұрылым факторларын кешенді есептемеу.</a:t>
            </a:r>
          </a:p>
        </p:txBody>
      </p:sp>
      <p:pic>
        <p:nvPicPr>
          <p:cNvPr id="4" name="Picture 3" descr="traffic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PhD Defense | L.N. Gumilyov ENU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F2043"/>
                </a:solidFill>
                <a:latin typeface="Segoe UI"/>
              </a:defRPr>
            </a:pPr>
            <a:r>
              <a:t>2. Зерттеу Мақсаты мен Міндеттері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2C6"/>
                </a:solidFill>
                <a:latin typeface="Segoe UI"/>
              </a:defRPr>
            </a:pPr>
            <a:r>
              <a:t>Мақсаты: LSTM нейрондық желісі мен Digital Twin тұжырымдамасы негізінде қалалық трафикті нақты уақыт режимінде бақылауға және болжауға арналған кешенді AI-жүйесін әзірлеу.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Ғылыми және Инженериялық Міндеттер: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1. Жүйелік Архитектура: Микросервистік backend (FastAPI, PostGIS) және интеграциялық API шлюздерін жобалау.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2. Машиналық Оқыту: Уақыттық қатарларды талдау үшін LSTM (PyTorch) моделін бейімдеу және оңтайландыру.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3. Цифрлық Егіз: Кептелістің 'Digital Twin' моделін жасау және маршруттау алгоритмдерін (Dijkstra/A* модификациясы) іске асыру.</a:t>
            </a:r>
          </a:p>
          <a:p>
            <a:pPr>
              <a:defRPr sz="2000">
                <a:solidFill>
                  <a:srgbClr val="333333"/>
                </a:solidFill>
                <a:latin typeface="Segoe UI"/>
              </a:defRPr>
            </a:pPr>
            <a:r>
              <a:t>4. Cross-Platform Клиент: Мобильді қосымша (Flutter) және Web Dashboard (Vue.js) арқылы UI/UX жобалау.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PhD Defense | L.N. Gumilyov 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F2043"/>
                </a:solidFill>
                <a:latin typeface="Segoe UI"/>
              </a:defRPr>
            </a:pPr>
            <a:r>
              <a:t>3. Жүйелік Архитектура (System Architecture)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Микросервистік тәсіл: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Масштабталатын API (FastAPI).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Кеңістіктік деректер базасы (PostGIS).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Деректер ағыны: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IoT сенсорлар мен GPS тректерден.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Нақты уақыттағы өңдеу (Real-time).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Client-Server өзара әрекеттесуі (REST/WebSockets).</a:t>
            </a:r>
          </a:p>
        </p:txBody>
      </p:sp>
      <p:pic>
        <p:nvPicPr>
          <p:cNvPr id="4" name="Picture 3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858000" cy="4557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PhD Defense | L.N. Gumilyov 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F2043"/>
                </a:solidFill>
                <a:latin typeface="Segoe UI"/>
              </a:defRPr>
            </a:pPr>
            <a:r>
              <a:t>4. Болжау Моделі: LSTM Нейрондық Желісі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Long Short-Term Memory (LSTM):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Ұзақ мерзімді тәуелділіктерді сақтау мүмкіндігі.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Кіріс: Соңғы 12 уақыттық нүкте (lookback).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Шығыс: 30-60 минутқа трафик индексі.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Аномалияларды анықтау (Z-Score):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Кептелістерді ерте ескерту.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Экспоненциалды жылжымалы орташа (EMA):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α=0.4 коэффициентімен трендті тегістеу.</a:t>
            </a:r>
          </a:p>
        </p:txBody>
      </p:sp>
      <p:pic>
        <p:nvPicPr>
          <p:cNvPr id="4" name="Picture 3" descr="lst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94360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PhD Defense | L.N. Gumilyov 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F2043"/>
                </a:solidFill>
                <a:latin typeface="Segoe UI"/>
              </a:defRPr>
            </a:pPr>
            <a:r>
              <a:t>5. Модель Нәтижелері және Эксперимент (Results)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Метрикалар (Metrics):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MAE (Mean Absolute Error) ~ 8% қателік.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RMSE: Жалған аномалияларға төзімділік.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LSTM дәлдігі: 87.4%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Базалық модельдермен (Linear Regression) салыстырғанда дәлдіктің 34%-ға артуы.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Қосымша факторлар: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Ауа-райы әсері математикалық түрде ескерілген.</a:t>
            </a:r>
          </a:p>
        </p:txBody>
      </p:sp>
      <p:pic>
        <p:nvPicPr>
          <p:cNvPr id="4" name="Picture 3" descr="mae_rms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943600" cy="25184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PhD Defense | L.N. Gumilyov 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F2043"/>
                </a:solidFill>
                <a:latin typeface="Segoe UI"/>
              </a:defRPr>
            </a:pPr>
            <a:r>
              <a:t>6. Инновациялық Шешім: Digital Twin Симуляторы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What-If Симуляция (simulate_closure API):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Жол жөндеу жұмыстары немесе апат (ДТП) жағдайында трафиктің қайта бөлінуін болжау.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Multimodal маршруттау: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Автокөлік + Самокат/Жаяу жүру гибридті ұсыныстары.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• Инклюзивті орта:</a:t>
            </a:r>
          </a:p>
          <a:p>
            <a:pPr>
              <a:defRPr sz="1800">
                <a:solidFill>
                  <a:srgbClr val="333333"/>
                </a:solidFill>
                <a:latin typeface="Segoe UI"/>
              </a:defRPr>
            </a:pPr>
            <a:r>
              <a:t>   - Мүмкіндігі шектеулі жандарға арналған кедергісіз маршруттар (баспалдақтарды айналып өту).</a:t>
            </a:r>
          </a:p>
        </p:txBody>
      </p:sp>
      <p:pic>
        <p:nvPicPr>
          <p:cNvPr id="4" name="Picture 3" descr="diag_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943600" cy="3344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PhD Defense | L.N. Gumilyov 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F2043"/>
                </a:solidFill>
                <a:latin typeface="Segoe UI"/>
              </a:defRPr>
            </a:pPr>
            <a:r>
              <a:t>7. Қорытынды және Практикалық Маңызы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  <a:r>
              <a:t>Ғылыми Жаңалығы:</a:t>
            </a: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  <a:r>
              <a:t>• Қазақстанның инфрақұрылымы мен климатына бейімделген LSTM-негізіндегі алғашқы трафик 'Цифрлық Егізі' құрылды.</a:t>
            </a: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  <a:r>
              <a:t>Экономикалық және Экологиялық Тиімділік:</a:t>
            </a: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  <a:r>
              <a:t>• Кептелістегі уақытты 20%-ға дейін қысқарту потенциалы.</a:t>
            </a: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  <a:r>
              <a:t>• CO2 шығарындыларын азайту арқылы қала экологиясын жақсарту.</a:t>
            </a: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  <a:r>
              <a:t>Әлеуметтік Маңызы:</a:t>
            </a:r>
          </a:p>
          <a:p>
            <a:pPr>
              <a:defRPr sz="2200">
                <a:solidFill>
                  <a:srgbClr val="333333"/>
                </a:solidFill>
                <a:latin typeface="Segoe UI"/>
              </a:defRPr>
            </a:pPr>
            <a:r>
              <a:t>• Инклюзивті бағыттау және төтенше жағдайларда жедел әрекет етуді қамтамасыз ету.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PhD Defense | L.N. Gumilyov 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Назарларыңызға рақмет!</a:t>
            </a:r>
            <a:br/>
            <a:r>
              <a:t>Сұрақтарыңызға жауап беруге дайынмын.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