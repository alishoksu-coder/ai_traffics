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10-слайд. Dataset логикасы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548640"/>
          </a:xfrm>
          <a:prstGeom prst="roundRect">
            <a:avLst/>
          </a:prstGeom>
          <a:solidFill>
            <a:srgbClr val="4F81BD"/>
          </a:solidFill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Historical / Simulated Source</a:t>
            </a:r>
          </a:p>
        </p:txBody>
      </p:sp>
      <p:sp>
        <p:nvSpPr>
          <p:cNvPr id="4" name="Down Arrow 3"/>
          <p:cNvSpPr/>
          <p:nvPr/>
        </p:nvSpPr>
        <p:spPr>
          <a:xfrm>
            <a:off x="1920240" y="1965960"/>
            <a:ext cx="274320" cy="18288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200400" cy="548640"/>
          </a:xfrm>
          <a:prstGeom prst="roundRect">
            <a:avLst/>
          </a:prstGeom>
          <a:solidFill>
            <a:srgbClr val="4F81BD"/>
          </a:solidFill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1920240" y="2788920"/>
            <a:ext cx="274320" cy="18288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200400" cy="548640"/>
          </a:xfrm>
          <a:prstGeom prst="roundRect">
            <a:avLst/>
          </a:prstGeom>
          <a:solidFill>
            <a:srgbClr val="4F81BD"/>
          </a:solidFill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Cleaning &amp; Normalization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20240" y="3611880"/>
            <a:ext cx="274320" cy="18288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200400" cy="548640"/>
          </a:xfrm>
          <a:prstGeom prst="roundRect">
            <a:avLst/>
          </a:prstGeom>
          <a:solidFill>
            <a:srgbClr val="4F81BD"/>
          </a:solidFill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Database: traffic_values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920240" y="4434840"/>
            <a:ext cx="274320" cy="18288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3200400" cy="548640"/>
          </a:xfrm>
          <a:prstGeom prst="roundRect">
            <a:avLst/>
          </a:prstGeom>
          <a:solidFill>
            <a:srgbClr val="4F81BD"/>
          </a:solidFill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ML input / Forecasting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457200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Неге бұл тәсіл таңдалды?</a:t>
            </a:r>
          </a:p>
          <a:p>
            <a:pPr>
              <a:spcAft>
                <a:spcPts val="1400"/>
              </a:spcAft>
              <a:defRPr sz="1400">
                <a:solidFill>
                  <a:srgbClr val="323232"/>
                </a:solidFill>
              </a:defRPr>
            </a:pPr>
            <a:r>
              <a:t>Нақты қалалық ITS API қолжетімділігі шектеулі болғандықтан, жобада тестілеу және демонстрация үшін historical/simulated traffic dataset қолданылды. Бұл прототиптің шектеуі, бірақ архитектура real API интеграциясына дайын.</a:t>
            </a:r>
          </a:p>
          <a:p>
            <a:pPr>
              <a:defRPr b="1" sz="1400">
                <a:solidFill>
                  <a:srgbClr val="003366"/>
                </a:solidFill>
              </a:defRPr>
            </a:pPr>
            <a:r>
              <a:t>Dataset мақсаты:</a:t>
            </a:r>
          </a:p>
          <a:p>
            <a:pPr>
              <a:spcAft>
                <a:spcPts val="2000"/>
              </a:spcAft>
              <a:defRPr sz="1400">
                <a:solidFill>
                  <a:srgbClr val="323232"/>
                </a:solidFill>
              </a:defRPr>
            </a:pPr>
            <a:r>
              <a:t>Жүйені тестілеу, ML-модельдерді салыстыру және dashboard көрсетілімін қамтамасыз ету.</a:t>
            </a:r>
          </a:p>
          <a:p>
            <a:pPr>
              <a:defRPr b="1" sz="1400">
                <a:solidFill>
                  <a:srgbClr val="C00000"/>
                </a:solidFill>
              </a:defRPr>
            </a:pPr>
            <a:r>
              <a:t>⚠️ Ескерту: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Бұл dataset прототиптік ортаға арналған. Келесі кезеңде real ITS / GPS / sensor data интеграциясы жоспарланады.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11-слайд. Dataset белгілері және олардың модельдегі рөлі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Рөлі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 / 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Уақыттық қатар реті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location_id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Жол нүктесі / учаске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value / avg_speed_kmh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Жүктеме немесе жылдамдық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weather_factor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Ауа райы әсері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vehicle_count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Көлік саны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is_weekend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Демалыс күн паттерні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is_peak_hour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Қарбалас уақыт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accident_occurred / user_event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Оқиға әсері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congestion_level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Target / болжанатын мән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06633"/>
                </a:solidFill>
              </a:defRPr>
            </a:pPr>
            <a:r>
              <a:t>💡 Маңызды: Нақты кодта негізгі өрістер location_id, ts, value, weather_factor түрінде сақталады. Қалған белгілер feature engineering кезеңінде қалыптастырылады.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2743200" cy="1005840"/>
          </a:xfrm>
          <a:prstGeom prst="roundRect">
            <a:avLst/>
          </a:prstGeom>
          <a:solidFill>
            <a:srgbClr val="DCE6F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Уақыттық белгілер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timestamp, is_weekend, is_peak_hour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377440"/>
            <a:ext cx="2743200" cy="1005840"/>
          </a:xfrm>
          <a:prstGeom prst="roundRect">
            <a:avLst/>
          </a:prstGeom>
          <a:solidFill>
            <a:srgbClr val="E4DFE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Кеңістік белгілері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location_id, intersection_id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566160"/>
            <a:ext cx="2743200" cy="1005840"/>
          </a:xfrm>
          <a:prstGeom prst="roundRect">
            <a:avLst/>
          </a:prstGeom>
          <a:solidFill>
            <a:srgbClr val="EBF1D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Жағдайлық белгілер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weather, accident, vehicle_count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12-слайд. Жүйе ішіндегі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Source</a:t>
            </a:r>
            <a:br/>
            <a:r>
              <a:t>(Simulator)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417320" y="3108960"/>
            <a:ext cx="2286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(traffic_values)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3108960"/>
            <a:ext cx="2286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FastAPI</a:t>
            </a:r>
            <a:br/>
            <a:r>
              <a:t>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1960" y="3108960"/>
            <a:ext cx="2286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ML</a:t>
            </a:r>
            <a:br/>
            <a:r>
              <a:t>(Forecasting)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108960"/>
            <a:ext cx="2286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model_</a:t>
            </a:r>
            <a:br/>
            <a:r>
              <a:t>metrics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3108960"/>
            <a:ext cx="228600" cy="182880"/>
          </a:xfrm>
          <a:prstGeom prst="right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2743200"/>
            <a:ext cx="1097280" cy="914400"/>
          </a:xfrm>
          <a:prstGeom prst="roundRect">
            <a:avLst/>
          </a:prstGeom>
          <a:solidFill>
            <a:srgbClr val="1F497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Dashboard</a:t>
            </a:r>
            <a:br/>
            <a:r>
              <a:t>(Digital Twin)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Қорытынды: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Дерек simulation/source қабатынан басталып, database, API, ML және dashboard модульдері арқылы толық өңделетін жүйелік pipeline құрайды.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